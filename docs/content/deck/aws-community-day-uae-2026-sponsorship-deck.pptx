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  <p:sldMasterId id="2147483689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3" r:id="rId21"/>
  </p:sldIdLst>
  <p:sldSz cx="9144000" cy="5143500" type="screen16x9"/>
  <p:notesSz cx="6858000" cy="9144000"/>
  <p:embeddedFontLst>
    <p:embeddedFont>
      <p:font typeface="Fira Sans Medium" panose="020B0603050000020004" pitchFamily="34" charset="0"/>
      <p:regular r:id="rId23"/>
      <p:bold r:id="rId24"/>
      <p:italic r:id="rId25"/>
      <p:boldItalic r:id="rId26"/>
    </p:embeddedFont>
    <p:embeddedFont>
      <p:font typeface="Mukta Light" panose="020B0000000000000000" pitchFamily="34" charset="77"/>
      <p:regular r:id="rId27"/>
      <p:bold r:id="rId28"/>
    </p:embeddedFont>
    <p:embeddedFont>
      <p:font typeface="Mukta Medium" panose="020B0000000000000000" pitchFamily="34" charset="77"/>
      <p:regular r:id="rId29"/>
      <p:bold r:id="rId30"/>
    </p:embeddedFont>
    <p:embeddedFont>
      <p:font typeface="Mukta SemiBold" panose="020B0000000000000000" pitchFamily="34" charset="7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C3FEB7-7C0A-4D12-8375-6839B0C8AFE1}">
  <a:tblStyle styleId="{47C3FEB7-7C0A-4D12-8375-6839B0C8AF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3A8607-968E-4D19-8937-9DA7682D618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90"/>
  </p:normalViewPr>
  <p:slideViewPr>
    <p:cSldViewPr snapToGrid="0">
      <p:cViewPr varScale="1">
        <p:scale>
          <a:sx n="201" d="100"/>
          <a:sy n="201" d="100"/>
        </p:scale>
        <p:origin x="34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04f1bc08d3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104f1bc08d3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ebab06d0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36ebab06d0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36ebab06d0c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43" name="Google Shape;243;g36ebab06d0c_0_8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https://awscommunity.me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ebab06d0c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6ebab06d0c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ebab06d0c_0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6ebab06d0c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ebab06d0c_5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6ebab06d0c_5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ebab06d0c_0_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6ebab06d0c_0_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ebab06d0c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ebab06d0c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6ebab06d0c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6ebab06d0c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ebab06d0c_0_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6ebab06d0c_0_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ebab06d0c_0_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6ebab06d0c_0_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ebab06d0c_0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6ebab06d0c_0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ebab06d0c_0_9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36ebab06d0c_0_9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6ebab06d0c_0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6ebab06d0c_0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653" y="685800"/>
            <a:ext cx="457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6ebab06d0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g36ebab06d0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g36ebab06d0c_0_15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https://awscommunity.me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ebab06d0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5" name="Google Shape;445;g36ebab06d0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36ebab06d0c_0_16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https://awscommunity.me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6ebab06d0c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g36ebab06d0c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6ebab06d0c_0_17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https://awscommunity.me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ebab06d0c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36ebab06d0c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g36ebab06d0c_0_1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467" name="Google Shape;467;g36ebab06d0c_0_18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https://awscommunity.me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104f1bc08d3_2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g104f1bc08d3_2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5514974" y="821531"/>
            <a:ext cx="2693194" cy="35004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816769" y="1452951"/>
            <a:ext cx="3904958" cy="25122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64" name="Google Shape;64;p16"/>
          <p:cNvSpPr>
            <a:spLocks noGrp="1"/>
          </p:cNvSpPr>
          <p:nvPr>
            <p:ph type="pic" idx="3"/>
          </p:nvPr>
        </p:nvSpPr>
        <p:spPr>
          <a:xfrm>
            <a:off x="4335870" y="1965008"/>
            <a:ext cx="1070796" cy="220023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>
            <a:spLocks noGrp="1"/>
          </p:cNvSpPr>
          <p:nvPr>
            <p:ph type="body" idx="1"/>
          </p:nvPr>
        </p:nvSpPr>
        <p:spPr>
          <a:xfrm>
            <a:off x="310896" y="2396066"/>
            <a:ext cx="51756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2"/>
          </p:nvPr>
        </p:nvSpPr>
        <p:spPr>
          <a:xfrm>
            <a:off x="308188" y="3140603"/>
            <a:ext cx="60417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title"/>
          </p:nvPr>
        </p:nvSpPr>
        <p:spPr>
          <a:xfrm>
            <a:off x="310896" y="2286000"/>
            <a:ext cx="82053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1"/>
          </p:nvPr>
        </p:nvSpPr>
        <p:spPr>
          <a:xfrm>
            <a:off x="310896" y="3039533"/>
            <a:ext cx="53721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1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>
            <a:spLocks noGrp="1"/>
          </p:cNvSpPr>
          <p:nvPr>
            <p:ph type="body" idx="1"/>
          </p:nvPr>
        </p:nvSpPr>
        <p:spPr>
          <a:xfrm>
            <a:off x="274319" y="1371600"/>
            <a:ext cx="7371000" cy="3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- Graphics">
  <p:cSld name="Four Content - Graphic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>
            <a:spLocks noGrp="1"/>
          </p:cNvSpPr>
          <p:nvPr>
            <p:ph type="body" idx="1"/>
          </p:nvPr>
        </p:nvSpPr>
        <p:spPr>
          <a:xfrm>
            <a:off x="337742" y="3127084"/>
            <a:ext cx="17970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body" idx="2"/>
          </p:nvPr>
        </p:nvSpPr>
        <p:spPr>
          <a:xfrm>
            <a:off x="2496747" y="3127084"/>
            <a:ext cx="17970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body" idx="3"/>
          </p:nvPr>
        </p:nvSpPr>
        <p:spPr>
          <a:xfrm>
            <a:off x="4634585" y="3127084"/>
            <a:ext cx="17970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body" idx="4"/>
          </p:nvPr>
        </p:nvSpPr>
        <p:spPr>
          <a:xfrm>
            <a:off x="6990345" y="3127084"/>
            <a:ext cx="17970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29"/>
          <p:cNvSpPr>
            <a:spLocks noGrp="1"/>
          </p:cNvSpPr>
          <p:nvPr>
            <p:ph type="pic" idx="5"/>
          </p:nvPr>
        </p:nvSpPr>
        <p:spPr>
          <a:xfrm>
            <a:off x="337742" y="1604354"/>
            <a:ext cx="1797000" cy="13446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9"/>
          <p:cNvSpPr>
            <a:spLocks noGrp="1"/>
          </p:cNvSpPr>
          <p:nvPr>
            <p:ph type="pic" idx="6"/>
          </p:nvPr>
        </p:nvSpPr>
        <p:spPr>
          <a:xfrm>
            <a:off x="2496747" y="1604354"/>
            <a:ext cx="1797000" cy="13446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9"/>
          <p:cNvSpPr>
            <a:spLocks noGrp="1"/>
          </p:cNvSpPr>
          <p:nvPr>
            <p:ph type="pic" idx="7"/>
          </p:nvPr>
        </p:nvSpPr>
        <p:spPr>
          <a:xfrm>
            <a:off x="4634585" y="1604354"/>
            <a:ext cx="1797000" cy="13446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9"/>
          <p:cNvSpPr>
            <a:spLocks noGrp="1"/>
          </p:cNvSpPr>
          <p:nvPr>
            <p:ph type="pic" idx="8"/>
          </p:nvPr>
        </p:nvSpPr>
        <p:spPr>
          <a:xfrm>
            <a:off x="6990345" y="1604354"/>
            <a:ext cx="1797000" cy="13446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1">
  <p:cSld name="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>
            <a:off x="275278" y="939800"/>
            <a:ext cx="41877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body" idx="2"/>
          </p:nvPr>
        </p:nvSpPr>
        <p:spPr>
          <a:xfrm>
            <a:off x="275278" y="1419621"/>
            <a:ext cx="41877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body" idx="3"/>
          </p:nvPr>
        </p:nvSpPr>
        <p:spPr>
          <a:xfrm>
            <a:off x="4656667" y="939800"/>
            <a:ext cx="4199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body" idx="4"/>
          </p:nvPr>
        </p:nvSpPr>
        <p:spPr>
          <a:xfrm>
            <a:off x="4656667" y="1419621"/>
            <a:ext cx="41994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50" name="Google Shape;150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>
            <a:spLocks noGrp="1"/>
          </p:cNvSpPr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subTitle" idx="1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3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4"/>
          <p:cNvSpPr txBox="1">
            <a:spLocks noGrp="1"/>
          </p:cNvSpPr>
          <p:nvPr>
            <p:ph type="body" idx="1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34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4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>
            <a:spLocks noGrp="1"/>
          </p:cNvSpPr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5"/>
          <p:cNvSpPr txBox="1">
            <a:spLocks noGrp="1"/>
          </p:cNvSpPr>
          <p:nvPr>
            <p:ph type="body" idx="1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6"/>
          <p:cNvSpPr txBox="1">
            <a:spLocks noGrp="1"/>
          </p:cNvSpPr>
          <p:nvPr>
            <p:ph type="body" idx="1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2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body" idx="1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2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3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body" idx="4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9"/>
          <p:cNvSpPr txBox="1">
            <a:spLocks noGrp="1"/>
          </p:cNvSpPr>
          <p:nvPr>
            <p:ph type="body" idx="1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body" idx="2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>
            <a:spLocks noGrp="1"/>
          </p:cNvSpPr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0"/>
          <p:cNvSpPr>
            <a:spLocks noGrp="1"/>
          </p:cNvSpPr>
          <p:nvPr>
            <p:ph type="pic" idx="2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40"/>
          <p:cNvSpPr txBox="1">
            <a:spLocks noGrp="1"/>
          </p:cNvSpPr>
          <p:nvPr>
            <p:ph type="body" idx="1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0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40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41"/>
          <p:cNvSpPr txBox="1">
            <a:spLocks noGrp="1"/>
          </p:cNvSpPr>
          <p:nvPr>
            <p:ph type="body" idx="1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41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1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1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>
            <a:spLocks noGrp="1"/>
          </p:cNvSpPr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2"/>
          <p:cNvSpPr txBox="1">
            <a:spLocks noGrp="1"/>
          </p:cNvSpPr>
          <p:nvPr>
            <p:ph type="body" idx="1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42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2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body" idx="1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7.jpg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wscommunity.m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wscommunity.m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community.m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wscommunity.m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/>
          <p:nvPr/>
        </p:nvSpPr>
        <p:spPr>
          <a:xfrm rot="5400000">
            <a:off x="7410528" y="2410546"/>
            <a:ext cx="2484704" cy="3626266"/>
          </a:xfrm>
          <a:custGeom>
            <a:avLst/>
            <a:gdLst/>
            <a:ahLst/>
            <a:cxnLst/>
            <a:rect l="l" t="t" r="r" b="b"/>
            <a:pathLst>
              <a:path w="3991493" h="4835022" extrusionOk="0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3"/>
          <p:cNvSpPr/>
          <p:nvPr/>
        </p:nvSpPr>
        <p:spPr>
          <a:xfrm rot="8901965">
            <a:off x="1694096" y="416281"/>
            <a:ext cx="1027688" cy="955715"/>
          </a:xfrm>
          <a:custGeom>
            <a:avLst/>
            <a:gdLst/>
            <a:ahLst/>
            <a:cxnLst/>
            <a:rect l="l" t="t" r="r" b="b"/>
            <a:pathLst>
              <a:path w="1444799" h="1343613" extrusionOk="0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3"/>
          <p:cNvSpPr/>
          <p:nvPr/>
        </p:nvSpPr>
        <p:spPr>
          <a:xfrm rot="2475421">
            <a:off x="-1129901" y="-1691588"/>
            <a:ext cx="3017584" cy="5328889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3"/>
          <p:cNvSpPr/>
          <p:nvPr/>
        </p:nvSpPr>
        <p:spPr>
          <a:xfrm rot="3140557">
            <a:off x="-1644272" y="-2104780"/>
            <a:ext cx="3019830" cy="5329341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43" title="aws-cd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63" y="-137484"/>
            <a:ext cx="5104350" cy="51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3"/>
          <p:cNvSpPr/>
          <p:nvPr/>
        </p:nvSpPr>
        <p:spPr>
          <a:xfrm>
            <a:off x="8060401" y="3721231"/>
            <a:ext cx="1083599" cy="1007710"/>
          </a:xfrm>
          <a:custGeom>
            <a:avLst/>
            <a:gdLst/>
            <a:ahLst/>
            <a:cxnLst/>
            <a:rect l="l" t="t" r="r" b="b"/>
            <a:pathLst>
              <a:path w="1444799" h="1343613" extrusionOk="0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3372440" y="4114366"/>
            <a:ext cx="25146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Sponsor Deck 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3"/>
          <p:cNvSpPr txBox="1"/>
          <p:nvPr/>
        </p:nvSpPr>
        <p:spPr>
          <a:xfrm>
            <a:off x="2058215" y="3527116"/>
            <a:ext cx="49218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  |  October 3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3"/>
          <p:cNvSpPr txBox="1"/>
          <p:nvPr/>
        </p:nvSpPr>
        <p:spPr>
          <a:xfrm>
            <a:off x="2887140" y="4591466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/>
        </p:nvSpPr>
        <p:spPr>
          <a:xfrm>
            <a:off x="123350" y="205750"/>
            <a:ext cx="8912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Partner with AWS Community Day UAE 2026?</a:t>
            </a:r>
            <a:endParaRPr/>
          </a:p>
        </p:txBody>
      </p:sp>
      <p:sp>
        <p:nvSpPr>
          <p:cNvPr id="246" name="Google Shape;246;p44"/>
          <p:cNvSpPr txBox="1"/>
          <p:nvPr/>
        </p:nvSpPr>
        <p:spPr>
          <a:xfrm>
            <a:off x="457200" y="68580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Amplify your brand • Hire top talent • Grow lasting connections</a:t>
            </a:r>
            <a:endParaRPr/>
          </a:p>
        </p:txBody>
      </p:sp>
      <p:sp>
        <p:nvSpPr>
          <p:cNvPr id="247" name="Google Shape;247;p44"/>
          <p:cNvSpPr/>
          <p:nvPr/>
        </p:nvSpPr>
        <p:spPr>
          <a:xfrm>
            <a:off x="123353" y="1378244"/>
            <a:ext cx="4372800" cy="14091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4"/>
          <p:cNvSpPr txBox="1"/>
          <p:nvPr/>
        </p:nvSpPr>
        <p:spPr>
          <a:xfrm>
            <a:off x="2017730" y="1549257"/>
            <a:ext cx="26235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Boost Brand Visibility</a:t>
            </a:r>
            <a:endParaRPr sz="16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Showcase your logo and stories to 600+ cloud professionals and decision‑makers.</a:t>
            </a:r>
            <a:endParaRPr sz="1600"/>
          </a:p>
        </p:txBody>
      </p:sp>
      <p:sp>
        <p:nvSpPr>
          <p:cNvPr id="249" name="Google Shape;249;p44"/>
          <p:cNvSpPr/>
          <p:nvPr/>
        </p:nvSpPr>
        <p:spPr>
          <a:xfrm>
            <a:off x="123353" y="3031753"/>
            <a:ext cx="4372800" cy="13749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4"/>
          <p:cNvSpPr txBox="1"/>
          <p:nvPr/>
        </p:nvSpPr>
        <p:spPr>
          <a:xfrm>
            <a:off x="1887380" y="3155257"/>
            <a:ext cx="26235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Recruit AWS Talent</a:t>
            </a:r>
            <a:endParaRPr sz="16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Position your company as an employer of choice for certified engineers &amp; architects.</a:t>
            </a:r>
            <a:endParaRPr sz="1600"/>
          </a:p>
        </p:txBody>
      </p:sp>
      <p:sp>
        <p:nvSpPr>
          <p:cNvPr id="251" name="Google Shape;251;p44"/>
          <p:cNvSpPr txBox="1"/>
          <p:nvPr/>
        </p:nvSpPr>
        <p:spPr>
          <a:xfrm>
            <a:off x="6512799" y="858750"/>
            <a:ext cx="213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44" title="WhatsApp Image 2025-06-16 at 20.12.11 (1).jpeg"/>
          <p:cNvPicPr preferRelativeResize="0"/>
          <p:nvPr/>
        </p:nvPicPr>
        <p:blipFill rotWithShape="1">
          <a:blip r:embed="rId3">
            <a:alphaModFix/>
          </a:blip>
          <a:srcRect l="4262" r="4262"/>
          <a:stretch/>
        </p:blipFill>
        <p:spPr>
          <a:xfrm>
            <a:off x="231679" y="1479269"/>
            <a:ext cx="1642944" cy="1220999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pic>
      <p:pic>
        <p:nvPicPr>
          <p:cNvPr id="253" name="Google Shape;25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74" y="3155257"/>
            <a:ext cx="1642949" cy="11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4"/>
          <p:cNvSpPr txBox="1"/>
          <p:nvPr/>
        </p:nvSpPr>
        <p:spPr>
          <a:xfrm>
            <a:off x="6941709" y="3669070"/>
            <a:ext cx="324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44"/>
          <p:cNvSpPr/>
          <p:nvPr/>
        </p:nvSpPr>
        <p:spPr>
          <a:xfrm>
            <a:off x="4662815" y="1945025"/>
            <a:ext cx="4372800" cy="14091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4"/>
          <p:cNvSpPr txBox="1"/>
          <p:nvPr/>
        </p:nvSpPr>
        <p:spPr>
          <a:xfrm>
            <a:off x="6556925" y="1975775"/>
            <a:ext cx="2389500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Thought Leadership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success stories, demos, or lightning talks that underline your expertise.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44" title="WhatsApp Image 2025-06-16 at 20.12.11 (6).jpeg"/>
          <p:cNvPicPr preferRelativeResize="0"/>
          <p:nvPr/>
        </p:nvPicPr>
        <p:blipFill rotWithShape="1">
          <a:blip r:embed="rId5">
            <a:alphaModFix/>
          </a:blip>
          <a:srcRect t="19" b="19"/>
          <a:stretch/>
        </p:blipFill>
        <p:spPr>
          <a:xfrm>
            <a:off x="4784337" y="2033338"/>
            <a:ext cx="1796854" cy="122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4"/>
          <p:cNvSpPr/>
          <p:nvPr/>
        </p:nvSpPr>
        <p:spPr>
          <a:xfrm>
            <a:off x="4657278" y="3591947"/>
            <a:ext cx="4372800" cy="13749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4"/>
          <p:cNvSpPr txBox="1"/>
          <p:nvPr/>
        </p:nvSpPr>
        <p:spPr>
          <a:xfrm>
            <a:off x="6556927" y="3745850"/>
            <a:ext cx="26235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Your Network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long‑term relationships with customers, partners, and AWS staff.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44" title="WhatsApp Image 2025-06-16 at 20.12.11.jpeg"/>
          <p:cNvPicPr preferRelativeResize="0"/>
          <p:nvPr/>
        </p:nvPicPr>
        <p:blipFill rotWithShape="1">
          <a:blip r:embed="rId6">
            <a:alphaModFix/>
          </a:blip>
          <a:srcRect l="961" r="970"/>
          <a:stretch/>
        </p:blipFill>
        <p:spPr>
          <a:xfrm>
            <a:off x="4760075" y="3672396"/>
            <a:ext cx="1796854" cy="12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/>
        </p:nvSpPr>
        <p:spPr>
          <a:xfrm>
            <a:off x="268975" y="710400"/>
            <a:ext cx="4892700" cy="431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Community‑Driven</a:t>
            </a:r>
            <a:endParaRPr dirty="0"/>
          </a:p>
          <a:p>
            <a: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Planned &amp; executed by local AWS User Group leaders; AWS participates only as a sponsor.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Rich Multi‑Track Content</a:t>
            </a:r>
            <a:endParaRPr dirty="0"/>
          </a:p>
          <a:p>
            <a: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40 sessions, keynotes &amp; hands‑on workshops per event (e.g., DACH 2024 featured 4 tracks &amp; 32 speakers).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High‑Energy Crowd</a:t>
            </a:r>
            <a:endParaRPr dirty="0"/>
          </a:p>
          <a:p>
            <a: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00‑650+ passionate builders and decision‑makers per city — UAE editions have consistently drawn 600–700+ attendees.</a:t>
            </a:r>
            <a:endParaRPr lang="en-US" dirty="0"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Free Entry</a:t>
            </a:r>
            <a:endParaRPr lang="en-US" dirty="0"/>
          </a:p>
          <a:p>
            <a: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Accessible pricing drives big turn‑out, giving sponsors a wider lead pool.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Sponsor Visibility</a:t>
            </a:r>
            <a:endParaRPr dirty="0"/>
          </a:p>
          <a:p>
            <a: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Booth/demo table, logo placement, and conference passes included in most packages.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First‑Come Packages</a:t>
            </a:r>
            <a:endParaRPr dirty="0"/>
          </a:p>
          <a:p>
            <a: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Limited tiers per city—early commitment secures prime exposure.</a:t>
            </a:r>
            <a:endParaRPr dirty="0"/>
          </a:p>
        </p:txBody>
      </p:sp>
      <p:sp>
        <p:nvSpPr>
          <p:cNvPr id="266" name="Google Shape;266;p45"/>
          <p:cNvSpPr txBox="1"/>
          <p:nvPr/>
        </p:nvSpPr>
        <p:spPr>
          <a:xfrm>
            <a:off x="1015225" y="63895"/>
            <a:ext cx="8229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AWS Community Day?</a:t>
            </a:r>
            <a:endParaRPr/>
          </a:p>
        </p:txBody>
      </p:sp>
      <p:sp>
        <p:nvSpPr>
          <p:cNvPr id="267" name="Google Shape;267;p45"/>
          <p:cNvSpPr txBox="1"/>
          <p:nvPr/>
        </p:nvSpPr>
        <p:spPr>
          <a:xfrm>
            <a:off x="1026725" y="62613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1" u="none" strike="noStrike" cap="non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Global, community‑led AWS conferences built by builders, for builders</a:t>
            </a:r>
            <a:endParaRPr/>
          </a:p>
        </p:txBody>
      </p:sp>
      <p:pic>
        <p:nvPicPr>
          <p:cNvPr id="268" name="Google Shape;268;p45"/>
          <p:cNvPicPr preferRelativeResize="0"/>
          <p:nvPr/>
        </p:nvPicPr>
        <p:blipFill rotWithShape="1">
          <a:blip r:embed="rId3">
            <a:alphaModFix/>
          </a:blip>
          <a:srcRect t="11559" b="5155"/>
          <a:stretch/>
        </p:blipFill>
        <p:spPr>
          <a:xfrm>
            <a:off x="5456025" y="1261169"/>
            <a:ext cx="3230774" cy="403632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5"/>
          <p:cNvSpPr/>
          <p:nvPr/>
        </p:nvSpPr>
        <p:spPr>
          <a:xfrm rot="2478991">
            <a:off x="-201962" y="-485553"/>
            <a:ext cx="938651" cy="1656737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5"/>
          <p:cNvSpPr/>
          <p:nvPr/>
        </p:nvSpPr>
        <p:spPr>
          <a:xfrm rot="-6601657" flipH="1">
            <a:off x="24050" y="-1002656"/>
            <a:ext cx="937967" cy="1657251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5"/>
          <p:cNvSpPr/>
          <p:nvPr/>
        </p:nvSpPr>
        <p:spPr>
          <a:xfrm rot="2700000">
            <a:off x="5536158" y="903819"/>
            <a:ext cx="266014" cy="1120481"/>
          </a:xfrm>
          <a:prstGeom prst="roundRect">
            <a:avLst>
              <a:gd name="adj" fmla="val 13772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5"/>
          <p:cNvSpPr/>
          <p:nvPr/>
        </p:nvSpPr>
        <p:spPr>
          <a:xfrm rot="2700000">
            <a:off x="8349283" y="4549919"/>
            <a:ext cx="266014" cy="1120481"/>
          </a:xfrm>
          <a:prstGeom prst="roundRect">
            <a:avLst>
              <a:gd name="adj" fmla="val 13772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/>
        </p:nvSpPr>
        <p:spPr>
          <a:xfrm>
            <a:off x="630243" y="2207077"/>
            <a:ext cx="2025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Contents</a:t>
            </a:r>
            <a:endParaRPr sz="3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8" name="Google Shape;278;p46"/>
          <p:cNvSpPr/>
          <p:nvPr/>
        </p:nvSpPr>
        <p:spPr>
          <a:xfrm rot="3306446" flipH="1">
            <a:off x="8325562" y="4228474"/>
            <a:ext cx="939228" cy="1660443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6"/>
          <p:cNvSpPr txBox="1"/>
          <p:nvPr/>
        </p:nvSpPr>
        <p:spPr>
          <a:xfrm>
            <a:off x="548640" y="185370"/>
            <a:ext cx="8046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User Groups at a Glance</a:t>
            </a:r>
            <a:endParaRPr/>
          </a:p>
        </p:txBody>
      </p:sp>
      <p:sp>
        <p:nvSpPr>
          <p:cNvPr id="280" name="Google Shape;280;p46"/>
          <p:cNvSpPr txBox="1"/>
          <p:nvPr/>
        </p:nvSpPr>
        <p:spPr>
          <a:xfrm>
            <a:off x="548640" y="6858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1" u="none" strike="noStrike" cap="non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Builder‑run communities that make learning AWS social, local, and fun</a:t>
            </a:r>
            <a:endParaRPr/>
          </a:p>
        </p:txBody>
      </p:sp>
      <p:sp>
        <p:nvSpPr>
          <p:cNvPr id="281" name="Google Shape;281;p46"/>
          <p:cNvSpPr/>
          <p:nvPr/>
        </p:nvSpPr>
        <p:spPr>
          <a:xfrm>
            <a:off x="710385" y="1234440"/>
            <a:ext cx="1828800" cy="1714500"/>
          </a:xfrm>
          <a:prstGeom prst="rect">
            <a:avLst/>
          </a:prstGeom>
          <a:solidFill>
            <a:srgbClr val="F8F8F8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6"/>
          <p:cNvSpPr txBox="1"/>
          <p:nvPr/>
        </p:nvSpPr>
        <p:spPr>
          <a:xfrm>
            <a:off x="847546" y="1337310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&amp; Volunteer‑Led.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6"/>
          <p:cNvSpPr/>
          <p:nvPr/>
        </p:nvSpPr>
        <p:spPr>
          <a:xfrm>
            <a:off x="2813505" y="1234440"/>
            <a:ext cx="1828800" cy="1714500"/>
          </a:xfrm>
          <a:prstGeom prst="rect">
            <a:avLst/>
          </a:prstGeom>
          <a:solidFill>
            <a:srgbClr val="E6F0FF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6"/>
          <p:cNvSpPr txBox="1"/>
          <p:nvPr/>
        </p:nvSpPr>
        <p:spPr>
          <a:xfrm>
            <a:off x="2968883" y="1337310"/>
            <a:ext cx="151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Hands‑On Learning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6"/>
          <p:cNvSpPr/>
          <p:nvPr/>
        </p:nvSpPr>
        <p:spPr>
          <a:xfrm>
            <a:off x="710385" y="3154680"/>
            <a:ext cx="1828800" cy="1714500"/>
          </a:xfrm>
          <a:prstGeom prst="rect">
            <a:avLst/>
          </a:prstGeom>
          <a:solidFill>
            <a:srgbClr val="F8F8F8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6"/>
          <p:cNvSpPr txBox="1"/>
          <p:nvPr/>
        </p:nvSpPr>
        <p:spPr>
          <a:xfrm>
            <a:off x="980730" y="3265550"/>
            <a:ext cx="12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Knowledge</a:t>
            </a:r>
            <a:b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Exchange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6"/>
          <p:cNvSpPr/>
          <p:nvPr/>
        </p:nvSpPr>
        <p:spPr>
          <a:xfrm>
            <a:off x="2813505" y="3154680"/>
            <a:ext cx="1828800" cy="1714500"/>
          </a:xfrm>
          <a:prstGeom prst="rect">
            <a:avLst/>
          </a:prstGeom>
          <a:solidFill>
            <a:srgbClr val="E6F0FF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6"/>
          <p:cNvSpPr txBox="1"/>
          <p:nvPr/>
        </p:nvSpPr>
        <p:spPr>
          <a:xfrm>
            <a:off x="2950665" y="3257550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Career &amp; </a:t>
            </a:r>
            <a:b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Networking Boost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6"/>
          <p:cNvSpPr/>
          <p:nvPr/>
        </p:nvSpPr>
        <p:spPr>
          <a:xfrm>
            <a:off x="5062192" y="1234450"/>
            <a:ext cx="3338400" cy="3634800"/>
          </a:xfrm>
          <a:prstGeom prst="rect">
            <a:avLst/>
          </a:prstGeom>
          <a:solidFill>
            <a:srgbClr val="F0F0F0"/>
          </a:solidFill>
          <a:ln w="25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Community Photo</a:t>
            </a:r>
            <a:endParaRPr/>
          </a:p>
        </p:txBody>
      </p:sp>
      <p:sp>
        <p:nvSpPr>
          <p:cNvPr id="290" name="Google Shape;290;p46"/>
          <p:cNvSpPr/>
          <p:nvPr/>
        </p:nvSpPr>
        <p:spPr>
          <a:xfrm>
            <a:off x="710385" y="1782158"/>
            <a:ext cx="17931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Grass‑roots groups in 400+ cities, powered by passionate builders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6"/>
          <p:cNvSpPr/>
          <p:nvPr/>
        </p:nvSpPr>
        <p:spPr>
          <a:xfrm>
            <a:off x="2831285" y="1782158"/>
            <a:ext cx="17931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Lightning talks, code labs, and demos dive deep into real AWS use cases.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6"/>
          <p:cNvSpPr/>
          <p:nvPr/>
        </p:nvSpPr>
        <p:spPr>
          <a:xfrm>
            <a:off x="2813505" y="3902958"/>
            <a:ext cx="1793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6"/>
          <p:cNvSpPr/>
          <p:nvPr/>
        </p:nvSpPr>
        <p:spPr>
          <a:xfrm>
            <a:off x="763725" y="3722669"/>
            <a:ext cx="17931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 openly share architectures, cost tips, and lessons learned.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6"/>
          <p:cNvSpPr/>
          <p:nvPr/>
        </p:nvSpPr>
        <p:spPr>
          <a:xfrm>
            <a:off x="2813505" y="3722669"/>
            <a:ext cx="17931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 AWS Heroes, hiring managers, and fellow cloud enthusiasts.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6" descr="WS UG Dubai cover photo"/>
          <p:cNvSpPr/>
          <p:nvPr/>
        </p:nvSpPr>
        <p:spPr>
          <a:xfrm>
            <a:off x="0" y="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46"/>
          <p:cNvPicPr preferRelativeResize="0"/>
          <p:nvPr/>
        </p:nvPicPr>
        <p:blipFill rotWithShape="1">
          <a:blip r:embed="rId3">
            <a:alphaModFix/>
          </a:blip>
          <a:srcRect l="20224" r="27851"/>
          <a:stretch/>
        </p:blipFill>
        <p:spPr>
          <a:xfrm>
            <a:off x="5078277" y="1261100"/>
            <a:ext cx="3302774" cy="3578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6"/>
          <p:cNvSpPr/>
          <p:nvPr/>
        </p:nvSpPr>
        <p:spPr>
          <a:xfrm rot="-9215401">
            <a:off x="8412055" y="3671308"/>
            <a:ext cx="939499" cy="1658126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/>
          <p:nvPr/>
        </p:nvSpPr>
        <p:spPr>
          <a:xfrm>
            <a:off x="652000" y="2074475"/>
            <a:ext cx="2397900" cy="8916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Community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Groups, UAE</a:t>
            </a:r>
            <a:endParaRPr sz="1100"/>
          </a:p>
        </p:txBody>
      </p:sp>
      <p:sp>
        <p:nvSpPr>
          <p:cNvPr id="303" name="Google Shape;303;p47"/>
          <p:cNvSpPr/>
          <p:nvPr/>
        </p:nvSpPr>
        <p:spPr>
          <a:xfrm>
            <a:off x="5260704" y="274250"/>
            <a:ext cx="3155100" cy="857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User Group, Dubai</a:t>
            </a:r>
            <a:endParaRPr sz="1100"/>
          </a:p>
        </p:txBody>
      </p:sp>
      <p:sp>
        <p:nvSpPr>
          <p:cNvPr id="304" name="Google Shape;304;p47"/>
          <p:cNvSpPr/>
          <p:nvPr/>
        </p:nvSpPr>
        <p:spPr>
          <a:xfrm>
            <a:off x="5260704" y="1474400"/>
            <a:ext cx="3155100" cy="857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User Group, Abu Dhabi</a:t>
            </a:r>
            <a:endParaRPr sz="1100"/>
          </a:p>
        </p:txBody>
      </p:sp>
      <p:sp>
        <p:nvSpPr>
          <p:cNvPr id="305" name="Google Shape;305;p47"/>
          <p:cNvSpPr/>
          <p:nvPr/>
        </p:nvSpPr>
        <p:spPr>
          <a:xfrm>
            <a:off x="5260704" y="2674550"/>
            <a:ext cx="3155100" cy="857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Women’s User Group, UAE</a:t>
            </a:r>
            <a:endParaRPr sz="1100"/>
          </a:p>
        </p:txBody>
      </p:sp>
      <p:sp>
        <p:nvSpPr>
          <p:cNvPr id="306" name="Google Shape;306;p47"/>
          <p:cNvSpPr/>
          <p:nvPr/>
        </p:nvSpPr>
        <p:spPr>
          <a:xfrm>
            <a:off x="5260704" y="3874700"/>
            <a:ext cx="3155100" cy="857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AWS User Group Cloud &amp; Security</a:t>
            </a:r>
            <a:endParaRPr sz="1100" dirty="0"/>
          </a:p>
        </p:txBody>
      </p:sp>
      <p:sp>
        <p:nvSpPr>
          <p:cNvPr id="307" name="Google Shape;307;p47"/>
          <p:cNvSpPr/>
          <p:nvPr/>
        </p:nvSpPr>
        <p:spPr>
          <a:xfrm>
            <a:off x="4150128" y="685800"/>
            <a:ext cx="19055" cy="36004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7"/>
          <p:cNvSpPr/>
          <p:nvPr/>
        </p:nvSpPr>
        <p:spPr>
          <a:xfrm>
            <a:off x="3155469" y="2493645"/>
            <a:ext cx="994659" cy="190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7"/>
          <p:cNvSpPr/>
          <p:nvPr/>
        </p:nvSpPr>
        <p:spPr>
          <a:xfrm>
            <a:off x="4150128" y="676275"/>
            <a:ext cx="994659" cy="190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7"/>
          <p:cNvSpPr/>
          <p:nvPr/>
        </p:nvSpPr>
        <p:spPr>
          <a:xfrm>
            <a:off x="4150128" y="1876425"/>
            <a:ext cx="994659" cy="190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7"/>
          <p:cNvSpPr/>
          <p:nvPr/>
        </p:nvSpPr>
        <p:spPr>
          <a:xfrm>
            <a:off x="4150128" y="3076575"/>
            <a:ext cx="994659" cy="190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7"/>
          <p:cNvSpPr/>
          <p:nvPr/>
        </p:nvSpPr>
        <p:spPr>
          <a:xfrm>
            <a:off x="4150128" y="4276725"/>
            <a:ext cx="994659" cy="190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7"/>
          <p:cNvSpPr/>
          <p:nvPr/>
        </p:nvSpPr>
        <p:spPr>
          <a:xfrm rot="3140557">
            <a:off x="-1749847" y="-3032605"/>
            <a:ext cx="3019830" cy="5329341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7"/>
          <p:cNvSpPr/>
          <p:nvPr/>
        </p:nvSpPr>
        <p:spPr>
          <a:xfrm rot="5400000">
            <a:off x="7483303" y="2473121"/>
            <a:ext cx="2484704" cy="3626266"/>
          </a:xfrm>
          <a:custGeom>
            <a:avLst/>
            <a:gdLst/>
            <a:ahLst/>
            <a:cxnLst/>
            <a:rect l="l" t="t" r="r" b="b"/>
            <a:pathLst>
              <a:path w="3991493" h="4835022" extrusionOk="0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/>
          <p:nvPr/>
        </p:nvSpPr>
        <p:spPr>
          <a:xfrm>
            <a:off x="367616" y="1103676"/>
            <a:ext cx="910800" cy="9108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8"/>
          <p:cNvSpPr/>
          <p:nvPr/>
        </p:nvSpPr>
        <p:spPr>
          <a:xfrm>
            <a:off x="2608047" y="825976"/>
            <a:ext cx="910800" cy="9108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8"/>
          <p:cNvSpPr/>
          <p:nvPr/>
        </p:nvSpPr>
        <p:spPr>
          <a:xfrm>
            <a:off x="5079219" y="1117685"/>
            <a:ext cx="910800" cy="9108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8"/>
          <p:cNvSpPr/>
          <p:nvPr/>
        </p:nvSpPr>
        <p:spPr>
          <a:xfrm>
            <a:off x="465990" y="848597"/>
            <a:ext cx="1165800" cy="116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03200" dist="228600" dir="8280000" algn="t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8"/>
          <p:cNvSpPr/>
          <p:nvPr/>
        </p:nvSpPr>
        <p:spPr>
          <a:xfrm>
            <a:off x="2627301" y="841797"/>
            <a:ext cx="1165800" cy="116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03200" dist="228600" dir="8280000" algn="t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8"/>
          <p:cNvSpPr/>
          <p:nvPr/>
        </p:nvSpPr>
        <p:spPr>
          <a:xfrm>
            <a:off x="4790128" y="862606"/>
            <a:ext cx="1165800" cy="116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03200" dist="228600" dir="8280000" algn="t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8"/>
          <p:cNvSpPr txBox="1"/>
          <p:nvPr/>
        </p:nvSpPr>
        <p:spPr>
          <a:xfrm>
            <a:off x="872582" y="2098525"/>
            <a:ext cx="1410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ukta SemiBold"/>
                <a:ea typeface="Mukta SemiBold"/>
                <a:cs typeface="Mukta SemiBold"/>
                <a:sym typeface="Mukta SemiBold"/>
              </a:rPr>
              <a:t>Sabiha Ali</a:t>
            </a: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26" name="Google Shape;326;p48"/>
          <p:cNvSpPr txBox="1"/>
          <p:nvPr/>
        </p:nvSpPr>
        <p:spPr>
          <a:xfrm>
            <a:off x="885322" y="2347996"/>
            <a:ext cx="910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Graphic Designer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  <p:sp>
        <p:nvSpPr>
          <p:cNvPr id="327" name="Google Shape;327;p48"/>
          <p:cNvSpPr/>
          <p:nvPr/>
        </p:nvSpPr>
        <p:spPr>
          <a:xfrm>
            <a:off x="3559818" y="1707619"/>
            <a:ext cx="219300" cy="2193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8"/>
          <p:cNvSpPr/>
          <p:nvPr/>
        </p:nvSpPr>
        <p:spPr>
          <a:xfrm>
            <a:off x="1363112" y="898375"/>
            <a:ext cx="219300" cy="2193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8"/>
          <p:cNvSpPr/>
          <p:nvPr/>
        </p:nvSpPr>
        <p:spPr>
          <a:xfrm>
            <a:off x="4673096" y="1371647"/>
            <a:ext cx="219300" cy="2193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8"/>
          <p:cNvSpPr txBox="1"/>
          <p:nvPr/>
        </p:nvSpPr>
        <p:spPr>
          <a:xfrm>
            <a:off x="3055213" y="2075238"/>
            <a:ext cx="1839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ukta SemiBold"/>
                <a:ea typeface="Mukta SemiBold"/>
                <a:cs typeface="Mukta SemiBold"/>
                <a:sym typeface="Mukta SemiBold"/>
              </a:rPr>
              <a:t>Hameedullah Khan</a:t>
            </a: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31" name="Google Shape;331;p48"/>
          <p:cNvSpPr txBox="1"/>
          <p:nvPr/>
        </p:nvSpPr>
        <p:spPr>
          <a:xfrm>
            <a:off x="3093998" y="2347996"/>
            <a:ext cx="7449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Programmer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  <p:sp>
        <p:nvSpPr>
          <p:cNvPr id="332" name="Google Shape;332;p48"/>
          <p:cNvSpPr txBox="1"/>
          <p:nvPr/>
        </p:nvSpPr>
        <p:spPr>
          <a:xfrm>
            <a:off x="5285548" y="2072186"/>
            <a:ext cx="1356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ukta SemiBold"/>
                <a:ea typeface="Mukta SemiBold"/>
                <a:cs typeface="Mukta SemiBold"/>
                <a:sym typeface="Mukta SemiBold"/>
              </a:rPr>
              <a:t>Saad Zaman</a:t>
            </a:r>
            <a:endParaRPr sz="1500">
              <a:solidFill>
                <a:srgbClr val="000000"/>
              </a:solidFill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5285585" y="2321657"/>
            <a:ext cx="910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Graphic Designer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  <p:pic>
        <p:nvPicPr>
          <p:cNvPr id="334" name="Google Shape;334;p48" title="Sabiha Ashik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06" b="396"/>
          <a:stretch/>
        </p:blipFill>
        <p:spPr>
          <a:xfrm>
            <a:off x="465990" y="848597"/>
            <a:ext cx="1165800" cy="1165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5" name="Google Shape;335;p48" title="Hameed.jp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3599" b="29752"/>
          <a:stretch/>
        </p:blipFill>
        <p:spPr>
          <a:xfrm>
            <a:off x="2627301" y="841797"/>
            <a:ext cx="1165800" cy="1165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6" name="Google Shape;336;p48" title="Saad Zaman.jpeg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4790128" y="862606"/>
            <a:ext cx="1165800" cy="11658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37" name="Google Shape;337;p48"/>
          <p:cNvGrpSpPr/>
          <p:nvPr/>
        </p:nvGrpSpPr>
        <p:grpSpPr>
          <a:xfrm>
            <a:off x="6971188" y="-1586331"/>
            <a:ext cx="4187015" cy="4187015"/>
            <a:chOff x="8803982" y="-1135196"/>
            <a:chExt cx="4908000" cy="4908000"/>
          </a:xfrm>
        </p:grpSpPr>
        <p:sp>
          <p:nvSpPr>
            <p:cNvPr id="338" name="Google Shape;338;p48"/>
            <p:cNvSpPr/>
            <p:nvPr/>
          </p:nvSpPr>
          <p:spPr>
            <a:xfrm>
              <a:off x="8803982" y="-1135196"/>
              <a:ext cx="4908000" cy="4908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48"/>
            <p:cNvSpPr/>
            <p:nvPr/>
          </p:nvSpPr>
          <p:spPr>
            <a:xfrm>
              <a:off x="9196636" y="-742542"/>
              <a:ext cx="4122600" cy="4122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48"/>
          <p:cNvGrpSpPr/>
          <p:nvPr/>
        </p:nvGrpSpPr>
        <p:grpSpPr>
          <a:xfrm>
            <a:off x="-545694" y="4136334"/>
            <a:ext cx="1563689" cy="1563689"/>
            <a:chOff x="8803982" y="-1135196"/>
            <a:chExt cx="4908000" cy="4908000"/>
          </a:xfrm>
        </p:grpSpPr>
        <p:sp>
          <p:nvSpPr>
            <p:cNvPr id="341" name="Google Shape;341;p48"/>
            <p:cNvSpPr/>
            <p:nvPr/>
          </p:nvSpPr>
          <p:spPr>
            <a:xfrm>
              <a:off x="8803982" y="-1135196"/>
              <a:ext cx="4908000" cy="4908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8"/>
            <p:cNvSpPr/>
            <p:nvPr/>
          </p:nvSpPr>
          <p:spPr>
            <a:xfrm>
              <a:off x="10035090" y="95912"/>
              <a:ext cx="2445900" cy="2445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48"/>
          <p:cNvSpPr txBox="1"/>
          <p:nvPr/>
        </p:nvSpPr>
        <p:spPr>
          <a:xfrm>
            <a:off x="494092" y="357200"/>
            <a:ext cx="4554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 b="1">
                <a:solidFill>
                  <a:srgbClr val="E78E0D"/>
                </a:solidFill>
              </a:rPr>
              <a:t>UAE AWS User Groups Leaders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44" name="Google Shape;344;p48"/>
          <p:cNvSpPr txBox="1"/>
          <p:nvPr/>
        </p:nvSpPr>
        <p:spPr>
          <a:xfrm>
            <a:off x="494110" y="798578"/>
            <a:ext cx="79011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00000"/>
              </a:solidFill>
              <a:latin typeface="Mukta Light"/>
              <a:ea typeface="Mukta Light"/>
              <a:cs typeface="Mukta Light"/>
              <a:sym typeface="Mukta Light"/>
            </a:endParaRPr>
          </a:p>
        </p:txBody>
      </p:sp>
      <p:sp>
        <p:nvSpPr>
          <p:cNvPr id="349" name="Google Shape;349;p48"/>
          <p:cNvSpPr txBox="1"/>
          <p:nvPr/>
        </p:nvSpPr>
        <p:spPr>
          <a:xfrm>
            <a:off x="7351697" y="2357421"/>
            <a:ext cx="910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Graphic Designer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  <p:sp>
        <p:nvSpPr>
          <p:cNvPr id="351" name="Google Shape;351;p48"/>
          <p:cNvSpPr/>
          <p:nvPr/>
        </p:nvSpPr>
        <p:spPr>
          <a:xfrm>
            <a:off x="3135560" y="3377950"/>
            <a:ext cx="910800" cy="9108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8"/>
          <p:cNvSpPr/>
          <p:nvPr/>
        </p:nvSpPr>
        <p:spPr>
          <a:xfrm>
            <a:off x="5720263" y="3385949"/>
            <a:ext cx="910800" cy="9108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8"/>
          <p:cNvSpPr/>
          <p:nvPr/>
        </p:nvSpPr>
        <p:spPr>
          <a:xfrm>
            <a:off x="3233934" y="3122871"/>
            <a:ext cx="1165800" cy="116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03200" dist="228600" dir="8280000" algn="t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8"/>
          <p:cNvSpPr/>
          <p:nvPr/>
        </p:nvSpPr>
        <p:spPr>
          <a:xfrm>
            <a:off x="5431172" y="3130870"/>
            <a:ext cx="1165800" cy="116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03200" dist="228600" dir="8280000" algn="t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8"/>
          <p:cNvSpPr/>
          <p:nvPr/>
        </p:nvSpPr>
        <p:spPr>
          <a:xfrm>
            <a:off x="5314140" y="3636496"/>
            <a:ext cx="219300" cy="2193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48" title="Mahmoud AbdelRahman.jpeg"/>
          <p:cNvPicPr preferRelativeResize="0">
            <a:picLocks noGrp="1"/>
          </p:cNvPicPr>
          <p:nvPr>
            <p:ph type="pic" idx="6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3233934" y="3122871"/>
            <a:ext cx="1165800" cy="1165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7" name="Google Shape;357;p48" title="Ahmed.jpg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 t="7957" b="25393"/>
          <a:stretch/>
        </p:blipFill>
        <p:spPr>
          <a:xfrm>
            <a:off x="5431172" y="3130870"/>
            <a:ext cx="1165800" cy="1165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48"/>
          <p:cNvSpPr/>
          <p:nvPr/>
        </p:nvSpPr>
        <p:spPr>
          <a:xfrm>
            <a:off x="7768313" y="3382534"/>
            <a:ext cx="910800" cy="9108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8"/>
          <p:cNvSpPr/>
          <p:nvPr/>
        </p:nvSpPr>
        <p:spPr>
          <a:xfrm>
            <a:off x="7479222" y="3127455"/>
            <a:ext cx="1165800" cy="116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03200" dist="228600" dir="8280000" algn="t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8"/>
          <p:cNvSpPr/>
          <p:nvPr/>
        </p:nvSpPr>
        <p:spPr>
          <a:xfrm>
            <a:off x="7370278" y="3636496"/>
            <a:ext cx="219300" cy="2193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48" title="Image 12-07-2025 at 1.01 PM.jpeg"/>
          <p:cNvPicPr preferRelativeResize="0">
            <a:picLocks noGrp="1"/>
          </p:cNvPicPr>
          <p:nvPr>
            <p:ph type="pic" idx="8"/>
          </p:nvPr>
        </p:nvPicPr>
        <p:blipFill rotWithShape="1">
          <a:blip r:embed="rId8">
            <a:alphaModFix/>
          </a:blip>
          <a:srcRect l="377" r="387"/>
          <a:stretch/>
        </p:blipFill>
        <p:spPr>
          <a:xfrm>
            <a:off x="7479222" y="3127455"/>
            <a:ext cx="1165800" cy="1165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48"/>
          <p:cNvSpPr/>
          <p:nvPr/>
        </p:nvSpPr>
        <p:spPr>
          <a:xfrm>
            <a:off x="1066541" y="3163225"/>
            <a:ext cx="910800" cy="9108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8"/>
          <p:cNvSpPr/>
          <p:nvPr/>
        </p:nvSpPr>
        <p:spPr>
          <a:xfrm>
            <a:off x="1085795" y="3179046"/>
            <a:ext cx="1165800" cy="116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03200" dist="228600" dir="8280000" algn="t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8"/>
          <p:cNvSpPr/>
          <p:nvPr/>
        </p:nvSpPr>
        <p:spPr>
          <a:xfrm>
            <a:off x="2018312" y="4044868"/>
            <a:ext cx="219300" cy="219300"/>
          </a:xfrm>
          <a:prstGeom prst="ellipse">
            <a:avLst/>
          </a:prstGeom>
          <a:solidFill>
            <a:srgbClr val="FFA5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48" title="Rahaf.JPG"/>
          <p:cNvPicPr preferRelativeResize="0">
            <a:picLocks noGrp="1"/>
          </p:cNvPicPr>
          <p:nvPr>
            <p:ph type="pic" idx="9"/>
          </p:nvPr>
        </p:nvPicPr>
        <p:blipFill rotWithShape="1">
          <a:blip r:embed="rId9">
            <a:alphaModFix/>
          </a:blip>
          <a:srcRect t="10834" b="10826"/>
          <a:stretch/>
        </p:blipFill>
        <p:spPr>
          <a:xfrm>
            <a:off x="1085795" y="3179046"/>
            <a:ext cx="1165800" cy="1165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6" name="Google Shape;366;p48"/>
          <p:cNvSpPr txBox="1"/>
          <p:nvPr/>
        </p:nvSpPr>
        <p:spPr>
          <a:xfrm>
            <a:off x="1625414" y="4402124"/>
            <a:ext cx="1410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ukta SemiBold"/>
                <a:ea typeface="Mukta SemiBold"/>
                <a:cs typeface="Mukta SemiBold"/>
                <a:sym typeface="Mukta SemiBold"/>
              </a:rPr>
              <a:t>Rahaf Al-Najjar</a:t>
            </a: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67" name="Google Shape;367;p48"/>
          <p:cNvSpPr txBox="1"/>
          <p:nvPr/>
        </p:nvSpPr>
        <p:spPr>
          <a:xfrm>
            <a:off x="1638154" y="4651595"/>
            <a:ext cx="910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Graphic Designer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  <p:sp>
        <p:nvSpPr>
          <p:cNvPr id="368" name="Google Shape;368;p48"/>
          <p:cNvSpPr txBox="1"/>
          <p:nvPr/>
        </p:nvSpPr>
        <p:spPr>
          <a:xfrm>
            <a:off x="3536194" y="4378849"/>
            <a:ext cx="2372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ukta SemiBold"/>
                <a:ea typeface="Mukta SemiBold"/>
                <a:cs typeface="Mukta SemiBold"/>
                <a:sym typeface="Mukta SemiBold"/>
              </a:rPr>
              <a:t>Mahmoud Abdelrahman</a:t>
            </a: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69" name="Google Shape;369;p48"/>
          <p:cNvSpPr txBox="1"/>
          <p:nvPr/>
        </p:nvSpPr>
        <p:spPr>
          <a:xfrm>
            <a:off x="3596130" y="4651595"/>
            <a:ext cx="7449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Programmer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  <p:sp>
        <p:nvSpPr>
          <p:cNvPr id="370" name="Google Shape;370;p48"/>
          <p:cNvSpPr txBox="1"/>
          <p:nvPr/>
        </p:nvSpPr>
        <p:spPr>
          <a:xfrm>
            <a:off x="6038368" y="4379200"/>
            <a:ext cx="1563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ukta SemiBold"/>
                <a:ea typeface="Mukta SemiBold"/>
                <a:cs typeface="Mukta SemiBold"/>
                <a:sym typeface="Mukta SemiBold"/>
              </a:rPr>
              <a:t>Ahmed Hussein</a:t>
            </a: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71" name="Google Shape;371;p48"/>
          <p:cNvSpPr txBox="1"/>
          <p:nvPr/>
        </p:nvSpPr>
        <p:spPr>
          <a:xfrm>
            <a:off x="6038417" y="4628671"/>
            <a:ext cx="910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Graphic Designer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  <p:sp>
        <p:nvSpPr>
          <p:cNvPr id="372" name="Google Shape;372;p48"/>
          <p:cNvSpPr txBox="1"/>
          <p:nvPr/>
        </p:nvSpPr>
        <p:spPr>
          <a:xfrm>
            <a:off x="8083693" y="4375792"/>
            <a:ext cx="1130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ukta SemiBold"/>
                <a:ea typeface="Mukta SemiBold"/>
                <a:cs typeface="Mukta SemiBold"/>
                <a:sym typeface="Mukta SemiBold"/>
              </a:rPr>
              <a:t>Mahmoud</a:t>
            </a:r>
            <a:endParaRPr sz="1500">
              <a:solidFill>
                <a:srgbClr val="000000"/>
              </a:solidFill>
              <a:latin typeface="Mukta SemiBold"/>
              <a:ea typeface="Mukta SemiBold"/>
              <a:cs typeface="Mukta SemiBold"/>
              <a:sym typeface="Mukta SemiBold"/>
            </a:endParaRPr>
          </a:p>
        </p:txBody>
      </p:sp>
      <p:sp>
        <p:nvSpPr>
          <p:cNvPr id="373" name="Google Shape;373;p48"/>
          <p:cNvSpPr txBox="1"/>
          <p:nvPr/>
        </p:nvSpPr>
        <p:spPr>
          <a:xfrm>
            <a:off x="8096442" y="4625256"/>
            <a:ext cx="9108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kta Medium"/>
                <a:ea typeface="Mukta Medium"/>
                <a:cs typeface="Mukta Medium"/>
                <a:sym typeface="Mukta Medium"/>
              </a:rPr>
              <a:t>Graphic Designer</a:t>
            </a:r>
            <a:endParaRPr sz="800">
              <a:solidFill>
                <a:schemeClr val="lt1"/>
              </a:solidFill>
              <a:latin typeface="Mukta Medium"/>
              <a:ea typeface="Mukta Medium"/>
              <a:cs typeface="Mukta Medium"/>
              <a:sym typeface="Mukta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49" title="WhatsApp Image 2025-06-16 at 20.23.05.jpeg"/>
          <p:cNvPicPr preferRelativeResize="0"/>
          <p:nvPr/>
        </p:nvPicPr>
        <p:blipFill rotWithShape="1">
          <a:blip r:embed="rId3">
            <a:alphaModFix/>
          </a:blip>
          <a:srcRect t="7783" b="7792"/>
          <a:stretch/>
        </p:blipFill>
        <p:spPr>
          <a:xfrm>
            <a:off x="-200" y="0"/>
            <a:ext cx="91444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9"/>
          <p:cNvSpPr txBox="1">
            <a:spLocks noGrp="1"/>
          </p:cNvSpPr>
          <p:nvPr>
            <p:ph type="body" idx="4294967295"/>
          </p:nvPr>
        </p:nvSpPr>
        <p:spPr>
          <a:xfrm>
            <a:off x="381000" y="4061050"/>
            <a:ext cx="3478800" cy="701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AWS Community Day 2026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 txBox="1">
            <a:spLocks noGrp="1"/>
          </p:cNvSpPr>
          <p:nvPr>
            <p:ph type="title" idx="4294967295"/>
          </p:nvPr>
        </p:nvSpPr>
        <p:spPr>
          <a:xfrm>
            <a:off x="311700" y="402285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Glimpse of past events</a:t>
            </a:r>
            <a:endParaRPr/>
          </a:p>
        </p:txBody>
      </p:sp>
      <p:pic>
        <p:nvPicPr>
          <p:cNvPr id="385" name="Google Shape;385;p50" title="WhatsApp Image 2025-06-16 at 20.23.04.jpeg"/>
          <p:cNvPicPr preferRelativeResize="0"/>
          <p:nvPr/>
        </p:nvPicPr>
        <p:blipFill rotWithShape="1">
          <a:blip r:embed="rId3">
            <a:alphaModFix/>
          </a:blip>
          <a:srcRect l="9124" r="9116"/>
          <a:stretch/>
        </p:blipFill>
        <p:spPr>
          <a:xfrm>
            <a:off x="83275" y="1365900"/>
            <a:ext cx="2959500" cy="2411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0" title="WhatsApp Image 2025-06-16 at 20.23.04 (1).jpeg"/>
          <p:cNvPicPr preferRelativeResize="0"/>
          <p:nvPr/>
        </p:nvPicPr>
        <p:blipFill rotWithShape="1">
          <a:blip r:embed="rId4">
            <a:alphaModFix/>
          </a:blip>
          <a:srcRect l="9124" r="9116"/>
          <a:stretch/>
        </p:blipFill>
        <p:spPr>
          <a:xfrm>
            <a:off x="3098025" y="1365900"/>
            <a:ext cx="2959472" cy="2411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0" title="WhatsApp Image 2025-06-16 at 20.12.11.jpeg"/>
          <p:cNvPicPr preferRelativeResize="0"/>
          <p:nvPr/>
        </p:nvPicPr>
        <p:blipFill rotWithShape="1">
          <a:blip r:embed="rId5">
            <a:alphaModFix/>
          </a:blip>
          <a:srcRect l="9110" r="9110"/>
          <a:stretch/>
        </p:blipFill>
        <p:spPr>
          <a:xfrm>
            <a:off x="6112750" y="1365900"/>
            <a:ext cx="2959498" cy="2411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1" title="WhatsApp Image 2025-06-16 at 20.12.11 (1).jpeg"/>
          <p:cNvPicPr preferRelativeResize="0"/>
          <p:nvPr/>
        </p:nvPicPr>
        <p:blipFill rotWithShape="1">
          <a:blip r:embed="rId3">
            <a:alphaModFix/>
          </a:blip>
          <a:srcRect l="10101" r="10109"/>
          <a:stretch/>
        </p:blipFill>
        <p:spPr>
          <a:xfrm>
            <a:off x="76200" y="76200"/>
            <a:ext cx="2959494" cy="2471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1" title="WhatsApp Image 2025-06-16 at 20.12.11 (3).jpeg"/>
          <p:cNvPicPr preferRelativeResize="0"/>
          <p:nvPr/>
        </p:nvPicPr>
        <p:blipFill rotWithShape="1">
          <a:blip r:embed="rId4">
            <a:alphaModFix/>
          </a:blip>
          <a:srcRect l="10101" r="10109"/>
          <a:stretch/>
        </p:blipFill>
        <p:spPr>
          <a:xfrm>
            <a:off x="76200" y="2606675"/>
            <a:ext cx="2959504" cy="247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1" title="WhatsApp Image 2025-06-16 at 20.12.11 (8).jpeg"/>
          <p:cNvPicPr preferRelativeResize="0"/>
          <p:nvPr/>
        </p:nvPicPr>
        <p:blipFill rotWithShape="1">
          <a:blip r:embed="rId5">
            <a:alphaModFix/>
          </a:blip>
          <a:srcRect l="10101" r="10109"/>
          <a:stretch/>
        </p:blipFill>
        <p:spPr>
          <a:xfrm>
            <a:off x="3092250" y="76200"/>
            <a:ext cx="5969702" cy="498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52" title="IMG_0029.JPG"/>
          <p:cNvPicPr preferRelativeResize="0"/>
          <p:nvPr/>
        </p:nvPicPr>
        <p:blipFill rotWithShape="1">
          <a:blip r:embed="rId3">
            <a:alphaModFix/>
          </a:blip>
          <a:srcRect l="30285" r="30281"/>
          <a:stretch/>
        </p:blipFill>
        <p:spPr>
          <a:xfrm>
            <a:off x="82050" y="70650"/>
            <a:ext cx="2959503" cy="500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2" title="WhatsApp Image 2025-06-16 at 20.12.10 (2).jpeg"/>
          <p:cNvPicPr preferRelativeResize="0"/>
          <p:nvPr/>
        </p:nvPicPr>
        <p:blipFill rotWithShape="1">
          <a:blip r:embed="rId4">
            <a:alphaModFix/>
          </a:blip>
          <a:srcRect l="30288" r="30284"/>
          <a:stretch/>
        </p:blipFill>
        <p:spPr>
          <a:xfrm>
            <a:off x="3092251" y="70650"/>
            <a:ext cx="2959504" cy="500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2" title="WhatsApp Image 2025-06-16 at 20.12.10 (3).jpeg"/>
          <p:cNvPicPr preferRelativeResize="0"/>
          <p:nvPr/>
        </p:nvPicPr>
        <p:blipFill rotWithShape="1">
          <a:blip r:embed="rId5">
            <a:alphaModFix/>
          </a:blip>
          <a:srcRect l="30288" r="30284"/>
          <a:stretch/>
        </p:blipFill>
        <p:spPr>
          <a:xfrm>
            <a:off x="6102449" y="70650"/>
            <a:ext cx="2959501" cy="500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3" title="IMG_0223.JPG"/>
          <p:cNvPicPr preferRelativeResize="0"/>
          <p:nvPr/>
        </p:nvPicPr>
        <p:blipFill rotWithShape="1">
          <a:blip r:embed="rId3">
            <a:alphaModFix/>
          </a:blip>
          <a:srcRect l="10229" r="10229"/>
          <a:stretch/>
        </p:blipFill>
        <p:spPr>
          <a:xfrm>
            <a:off x="76200" y="76200"/>
            <a:ext cx="5969700" cy="500219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3"/>
          <p:cNvSpPr txBox="1">
            <a:spLocks noGrp="1"/>
          </p:cNvSpPr>
          <p:nvPr>
            <p:ph type="body" idx="4294967295"/>
          </p:nvPr>
        </p:nvSpPr>
        <p:spPr>
          <a:xfrm>
            <a:off x="229675" y="4137150"/>
            <a:ext cx="3516900" cy="818100"/>
          </a:xfrm>
          <a:prstGeom prst="rect">
            <a:avLst/>
          </a:prstGeom>
          <a:solidFill>
            <a:srgbClr val="FFFFFF"/>
          </a:solidFill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 fontScale="85000"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Tech sessions, Networking and Interaction with companies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08" name="Google Shape;408;p53" title="IMG_9956.JPG"/>
          <p:cNvPicPr preferRelativeResize="0"/>
          <p:nvPr/>
        </p:nvPicPr>
        <p:blipFill rotWithShape="1">
          <a:blip r:embed="rId4">
            <a:alphaModFix/>
          </a:blip>
          <a:srcRect l="10094" r="10102"/>
          <a:stretch/>
        </p:blipFill>
        <p:spPr>
          <a:xfrm>
            <a:off x="6096600" y="76200"/>
            <a:ext cx="2959503" cy="247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3" title="IMG_0348.JPG"/>
          <p:cNvPicPr preferRelativeResize="0"/>
          <p:nvPr/>
        </p:nvPicPr>
        <p:blipFill rotWithShape="1">
          <a:blip r:embed="rId5">
            <a:alphaModFix/>
          </a:blip>
          <a:srcRect l="10094" r="10102"/>
          <a:stretch/>
        </p:blipFill>
        <p:spPr>
          <a:xfrm>
            <a:off x="6096599" y="2606700"/>
            <a:ext cx="2959493" cy="247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4"/>
          <p:cNvSpPr txBox="1"/>
          <p:nvPr/>
        </p:nvSpPr>
        <p:spPr>
          <a:xfrm>
            <a:off x="411583" y="-128325"/>
            <a:ext cx="83208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We Need Sponsors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5" name="Google Shape;415;p54"/>
          <p:cNvSpPr txBox="1"/>
          <p:nvPr/>
        </p:nvSpPr>
        <p:spPr>
          <a:xfrm>
            <a:off x="617374" y="713275"/>
            <a:ext cx="79092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Local volunteers run the event — your support directly elevates the attendee experience.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Sponsorship offsets venue, A/V, and catering so tickets stay free or low‑cost, boosting attendance.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High‑value visibility via stage shout‑outs, booths, and social media puts your brand in front of 400‑650 AWS builders.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6" name="Google Shape;416;p54"/>
          <p:cNvSpPr txBox="1"/>
          <p:nvPr/>
        </p:nvSpPr>
        <p:spPr>
          <a:xfrm>
            <a:off x="6400115" y="4732020"/>
            <a:ext cx="24009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 more: awscommunity.me</a:t>
            </a:r>
            <a:endParaRPr sz="1100"/>
          </a:p>
        </p:txBody>
      </p:sp>
      <p:sp>
        <p:nvSpPr>
          <p:cNvPr id="417" name="Google Shape;417;p54"/>
          <p:cNvSpPr txBox="1"/>
          <p:nvPr/>
        </p:nvSpPr>
        <p:spPr>
          <a:xfrm>
            <a:off x="423622" y="1969691"/>
            <a:ext cx="83208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Your Sponsorship Funds Go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418" name="Google Shape;418;p54"/>
          <p:cNvGraphicFramePr/>
          <p:nvPr/>
        </p:nvGraphicFramePr>
        <p:xfrm>
          <a:off x="617372" y="2633531"/>
          <a:ext cx="7692100" cy="2204250"/>
        </p:xfrm>
        <a:graphic>
          <a:graphicData uri="http://schemas.openxmlformats.org/drawingml/2006/table">
            <a:tbl>
              <a:tblPr firstRow="1" bandRow="1">
                <a:noFill/>
                <a:tableStyleId>{47C3FEB7-7C0A-4D12-8375-6839B0C8AFE1}</a:tableStyleId>
              </a:tblPr>
              <a:tblGrid>
                <a:gridCol w="258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</a:rPr>
                        <a:t>What Your Sponsorship Enables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</a:rPr>
                        <a:t>Allocation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</a:rPr>
                        <a:t>Impact on the Event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Professional Venue &amp; A/V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35 %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Modern auditorium, HD streaming, rock‑solid Wi‑Fi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Catering &amp; Networking Breaks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30</a:t>
                      </a:r>
                      <a:r>
                        <a:rPr lang="en" sz="1100" u="none" strike="noStrike" cap="none"/>
                        <a:t> %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Meals &amp; coffee stations that fuel conversations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Stage, Branding &amp; Expo Booths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</a:t>
                      </a:r>
                      <a:r>
                        <a:rPr lang="en" sz="1100" u="none" strike="noStrike" cap="none"/>
                        <a:t>5 %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Sponsor logos prominent on stage &amp; in photos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Swag &amp; Prize Giveaways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10 %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Eco‑friendly merch and raffles driving booth traffic</a:t>
                      </a:r>
                      <a:endParaRPr sz="1100"/>
                    </a:p>
                  </a:txBody>
                  <a:tcPr marL="68600" marR="68600" marT="34300" marB="34300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9" name="Google Shape;419;p54"/>
          <p:cNvSpPr/>
          <p:nvPr/>
        </p:nvSpPr>
        <p:spPr>
          <a:xfrm rot="-9215401">
            <a:off x="8695105" y="3975233"/>
            <a:ext cx="939499" cy="1658126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5"/>
          <p:cNvSpPr txBox="1"/>
          <p:nvPr/>
        </p:nvSpPr>
        <p:spPr>
          <a:xfrm>
            <a:off x="411608" y="270100"/>
            <a:ext cx="83208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Bottom Line for Sponsors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25" name="Google Shape;425;p55"/>
          <p:cNvSpPr txBox="1"/>
          <p:nvPr/>
        </p:nvSpPr>
        <p:spPr>
          <a:xfrm>
            <a:off x="411600" y="1012225"/>
            <a:ext cx="7909200" cy="9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Support the UAE’s fastest‑growing cloud community and gain prime brand exposure.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Reach hundreds of AWS decision‑makers actively seeking innovative solutions.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Your investment funds a top‑tier experience that attendees — and sponsors — remember.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26" name="Google Shape;426;p55"/>
          <p:cNvSpPr txBox="1"/>
          <p:nvPr/>
        </p:nvSpPr>
        <p:spPr>
          <a:xfrm>
            <a:off x="6299315" y="4723920"/>
            <a:ext cx="24009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 more: awscommunity.me</a:t>
            </a:r>
            <a:endParaRPr sz="1100"/>
          </a:p>
        </p:txBody>
      </p:sp>
      <p:sp>
        <p:nvSpPr>
          <p:cNvPr id="427" name="Google Shape;427;p55"/>
          <p:cNvSpPr txBox="1"/>
          <p:nvPr/>
        </p:nvSpPr>
        <p:spPr>
          <a:xfrm>
            <a:off x="463550" y="2272475"/>
            <a:ext cx="8680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Sponsorship Opportunity Tiers - Community Day 2026</a:t>
            </a:r>
            <a:endParaRPr sz="3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5"/>
          <p:cNvSpPr txBox="1"/>
          <p:nvPr/>
        </p:nvSpPr>
        <p:spPr>
          <a:xfrm>
            <a:off x="443771" y="4415975"/>
            <a:ext cx="60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5"/>
          <p:cNvSpPr txBox="1"/>
          <p:nvPr/>
        </p:nvSpPr>
        <p:spPr>
          <a:xfrm>
            <a:off x="443771" y="3009000"/>
            <a:ext cx="60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rgbClr val="E78E0D"/>
                </a:solidFill>
              </a:rPr>
              <a:t>Platinum</a:t>
            </a:r>
            <a:r>
              <a:rPr lang="en" sz="1800" b="1" i="0" u="none" strike="noStrike" cap="none">
                <a:solidFill>
                  <a:srgbClr val="E78E0D"/>
                </a:solidFill>
                <a:latin typeface="Arial"/>
                <a:ea typeface="Arial"/>
                <a:cs typeface="Arial"/>
                <a:sym typeface="Arial"/>
              </a:rPr>
              <a:t> Sponsor ( with Naming righ</a:t>
            </a:r>
            <a:r>
              <a:rPr lang="en" sz="1800" b="1">
                <a:solidFill>
                  <a:srgbClr val="E78E0D"/>
                </a:solidFill>
              </a:rPr>
              <a:t>ts )</a:t>
            </a:r>
            <a:r>
              <a:rPr lang="en" sz="1800" b="1" i="0" u="none" strike="noStrike" cap="none">
                <a:solidFill>
                  <a:srgbClr val="E78E0D"/>
                </a:solidFill>
                <a:latin typeface="Arial"/>
                <a:ea typeface="Arial"/>
                <a:cs typeface="Arial"/>
                <a:sym typeface="Arial"/>
              </a:rPr>
              <a:t> – AED 50,000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5"/>
          <p:cNvSpPr txBox="1"/>
          <p:nvPr/>
        </p:nvSpPr>
        <p:spPr>
          <a:xfrm>
            <a:off x="443771" y="3473425"/>
            <a:ext cx="607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1800" b="1">
                <a:solidFill>
                  <a:srgbClr val="E78E0D"/>
                </a:solidFill>
              </a:rPr>
              <a:t>Gold Sponsor – AED 30,000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1">
              <a:solidFill>
                <a:srgbClr val="E78E0D"/>
              </a:solidFill>
            </a:endParaRPr>
          </a:p>
        </p:txBody>
      </p:sp>
      <p:sp>
        <p:nvSpPr>
          <p:cNvPr id="431" name="Google Shape;431;p55"/>
          <p:cNvSpPr txBox="1"/>
          <p:nvPr/>
        </p:nvSpPr>
        <p:spPr>
          <a:xfrm>
            <a:off x="443771" y="3941000"/>
            <a:ext cx="60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1800" b="1">
                <a:solidFill>
                  <a:srgbClr val="E78E0D"/>
                </a:solidFill>
              </a:rPr>
              <a:t>Silver Sponsor – AED 10,000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5"/>
          <p:cNvSpPr/>
          <p:nvPr/>
        </p:nvSpPr>
        <p:spPr>
          <a:xfrm rot="-9215401">
            <a:off x="-500120" y="-646092"/>
            <a:ext cx="939499" cy="1658126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 txBox="1"/>
          <p:nvPr/>
        </p:nvSpPr>
        <p:spPr>
          <a:xfrm>
            <a:off x="7366050" y="49274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*negotiable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9" name="Google Shape;439;p56"/>
          <p:cNvGraphicFramePr/>
          <p:nvPr/>
        </p:nvGraphicFramePr>
        <p:xfrm>
          <a:off x="277883" y="250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{213A8607-968E-4D19-8937-9DA7682D6181}</a:tableStyleId>
              </a:tblPr>
              <a:tblGrid>
                <a:gridCol w="552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Benefits (Tangible)</a:t>
                      </a:r>
                      <a:endParaRPr sz="1400" u="none" strike="noStrike" cap="none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Platinum</a:t>
                      </a:r>
                      <a:br>
                        <a:rPr lang="en" sz="1200" b="1" i="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chemeClr val="accent2"/>
                          </a:solidFill>
                        </a:rPr>
                        <a:t>AED 50,000</a:t>
                      </a:r>
                      <a:endParaRPr sz="1000" b="1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Gold</a:t>
                      </a:r>
                      <a:br>
                        <a:rPr lang="en" sz="1200" b="1" i="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chemeClr val="accent2"/>
                          </a:solidFill>
                        </a:rPr>
                        <a:t>AED 30,000</a:t>
                      </a:r>
                      <a:endParaRPr sz="1400" u="none" strike="noStrike" cap="none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Silver</a:t>
                      </a:r>
                      <a:br>
                        <a:rPr lang="en" sz="1200" b="1" i="0" u="none" strike="noStrike" cap="none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chemeClr val="accent2"/>
                          </a:solidFill>
                        </a:rPr>
                        <a:t>AED 10,000</a:t>
                      </a:r>
                      <a:endParaRPr sz="1000" b="1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AWS Community Day Powered/Enabled By …. You company’s name will be mentioned with the event name through out event + on digital &amp; print. 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Logo inclusion on AWS Community Day conference kit, goes with every participant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Large &amp; Prominent location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Medium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Small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Booth / Desk at the Venue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Large &amp; Prominent location</a:t>
                      </a:r>
                      <a:endParaRPr sz="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Logo featured within event venue (banners/standees/posters/session intros/agenda)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X Large &amp; Prominent location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Large &amp; Prominent location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Speaking session soon after Opening Keynote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Workshop or Speaking Slot  around the sponsors product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Branding around all stages ( Either as backdrop or as standee )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Large &amp; Prominent location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Medium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Small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0" name="Google Shape;440;p56"/>
          <p:cNvSpPr txBox="1">
            <a:spLocks noGrp="1"/>
          </p:cNvSpPr>
          <p:nvPr>
            <p:ph type="ftr" idx="11"/>
          </p:nvPr>
        </p:nvSpPr>
        <p:spPr>
          <a:xfrm>
            <a:off x="6057900" y="48688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https://awscommunity.me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1" name="Google Shape;441;p56"/>
          <p:cNvSpPr/>
          <p:nvPr/>
        </p:nvSpPr>
        <p:spPr>
          <a:xfrm rot="6183837">
            <a:off x="7826886" y="3434880"/>
            <a:ext cx="1854139" cy="2703508"/>
          </a:xfrm>
          <a:custGeom>
            <a:avLst/>
            <a:gdLst/>
            <a:ahLst/>
            <a:cxnLst/>
            <a:rect l="l" t="t" r="r" b="b"/>
            <a:pathLst>
              <a:path w="3991493" h="4835022" extrusionOk="0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6"/>
          <p:cNvSpPr/>
          <p:nvPr/>
        </p:nvSpPr>
        <p:spPr>
          <a:xfrm>
            <a:off x="-249398" y="-227132"/>
            <a:ext cx="581532" cy="540804"/>
          </a:xfrm>
          <a:custGeom>
            <a:avLst/>
            <a:gdLst/>
            <a:ahLst/>
            <a:cxnLst/>
            <a:rect l="l" t="t" r="r" b="b"/>
            <a:pathLst>
              <a:path w="1444799" h="1343613" extrusionOk="0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7"/>
          <p:cNvSpPr txBox="1"/>
          <p:nvPr/>
        </p:nvSpPr>
        <p:spPr>
          <a:xfrm>
            <a:off x="7366050" y="49274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*negotiable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9" name="Google Shape;449;p57"/>
          <p:cNvGraphicFramePr/>
          <p:nvPr/>
        </p:nvGraphicFramePr>
        <p:xfrm>
          <a:off x="263744" y="2574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{213A8607-968E-4D19-8937-9DA7682D6181}</a:tableStyleId>
              </a:tblPr>
              <a:tblGrid>
                <a:gridCol w="559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Benefits (Tangible)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Platinum</a:t>
                      </a:r>
                      <a:b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rgbClr val="E78E0D"/>
                          </a:solidFill>
                        </a:rPr>
                        <a:t>AED 50,000</a:t>
                      </a:r>
                      <a:endParaRPr sz="1000" b="1" i="0" u="none" strike="noStrike" cap="none">
                        <a:solidFill>
                          <a:srgbClr val="E78E0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Gold</a:t>
                      </a:r>
                      <a:b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rgbClr val="E78E0D"/>
                          </a:solidFill>
                        </a:rPr>
                        <a:t>AED 30,000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Silver</a:t>
                      </a:r>
                      <a:b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rgbClr val="E78E0D"/>
                          </a:solidFill>
                        </a:rPr>
                        <a:t>AED 10,000</a:t>
                      </a:r>
                      <a:endParaRPr sz="1000" b="1" i="0" u="none" strike="noStrike" cap="none">
                        <a:solidFill>
                          <a:srgbClr val="E78E0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</a:rPr>
                        <a:t>Free to distribute goodies from respective booth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</a:rPr>
                        <a:t>Logo on participant's badge. 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Branded Photo Booth ( *Must have Community Day or AWS Logo )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Access to contact &amp; designation details of all opt-in conference participants 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30 second video reel before sponsor presentation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1 Speaker Slot in upcoming Meetup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Logo and Material inclusion for next 3 months (~ 6 - 8 Meetups across UAE ) 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</a:rPr>
                        <a:t>Speaking session soon at the Closing  Keynote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50" name="Google Shape;450;p57"/>
          <p:cNvSpPr txBox="1">
            <a:spLocks noGrp="1"/>
          </p:cNvSpPr>
          <p:nvPr>
            <p:ph type="ftr" idx="11"/>
          </p:nvPr>
        </p:nvSpPr>
        <p:spPr>
          <a:xfrm>
            <a:off x="6061075" y="486886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https://awscommunity.me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1" name="Google Shape;451;p57"/>
          <p:cNvSpPr/>
          <p:nvPr/>
        </p:nvSpPr>
        <p:spPr>
          <a:xfrm rot="2478991">
            <a:off x="-201962" y="-485553"/>
            <a:ext cx="938651" cy="1656737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7"/>
          <p:cNvSpPr/>
          <p:nvPr/>
        </p:nvSpPr>
        <p:spPr>
          <a:xfrm rot="-6601657" flipH="1">
            <a:off x="24050" y="-1002656"/>
            <a:ext cx="937967" cy="1657251"/>
          </a:xfrm>
          <a:custGeom>
            <a:avLst/>
            <a:gdLst/>
            <a:ahLst/>
            <a:cxnLst/>
            <a:rect l="l" t="t" r="r" b="b"/>
            <a:pathLst>
              <a:path w="1137091" h="1501074" extrusionOk="0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8"/>
          <p:cNvSpPr txBox="1"/>
          <p:nvPr/>
        </p:nvSpPr>
        <p:spPr>
          <a:xfrm>
            <a:off x="7366050" y="492740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*negotiable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9" name="Google Shape;459;p58"/>
          <p:cNvGraphicFramePr/>
          <p:nvPr/>
        </p:nvGraphicFramePr>
        <p:xfrm>
          <a:off x="258309" y="233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{213A8607-968E-4D19-8937-9DA7682D6181}</a:tableStyleId>
              </a:tblPr>
              <a:tblGrid>
                <a:gridCol w="55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Benefits (Tangible)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Platinum</a:t>
                      </a:r>
                      <a:b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rgbClr val="E78E0D"/>
                          </a:solidFill>
                        </a:rPr>
                        <a:t>AED 50,000</a:t>
                      </a:r>
                      <a:endParaRPr sz="1000" b="1" i="0" u="none" strike="noStrike" cap="none">
                        <a:solidFill>
                          <a:srgbClr val="E78E0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Gold</a:t>
                      </a:r>
                      <a:b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rgbClr val="E78E0D"/>
                          </a:solidFill>
                        </a:rPr>
                        <a:t>AED 30,000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Silver</a:t>
                      </a:r>
                      <a:br>
                        <a:rPr lang="en" sz="1200" b="1" i="0" u="none" strike="noStrike" cap="none">
                          <a:solidFill>
                            <a:srgbClr val="E78E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" sz="1000" b="1" u="none" strike="noStrike" cap="none">
                          <a:solidFill>
                            <a:srgbClr val="E78E0D"/>
                          </a:solidFill>
                        </a:rPr>
                        <a:t>AED 10,000</a:t>
                      </a:r>
                      <a:endParaRPr sz="1000" b="1" i="0" u="none" strike="noStrike" cap="none">
                        <a:solidFill>
                          <a:srgbClr val="E78E0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Logo inclusion in AWS Community Day Event Invitation (Email)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Logo inclusion in meetup page and post event email to participants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Community Day Website presence (logo + link and 150 word write-up)</a:t>
                      </a:r>
                      <a:b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</a:b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(to be provided by sponsor)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Shout out on Social Media by Official User Group Pages &amp; Groups on LinkedIn, Whatsapp &amp; Facebook ( 10000+ Combined Organic Reach )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Sponsored Post by User Group Leaders, AWS Experts and Community Members ( Organic Word of Mouth )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Sponsored Post by AWS Experts &amp; Members in AWS UAE Community </a:t>
                      </a:r>
                      <a:b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</a:b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( Organic Word of Mouth )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Branding with Meetup Invite Emails &amp; Meetup page to all participants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700" u="none" strike="noStrike" cap="none">
                          <a:solidFill>
                            <a:schemeClr val="dk1"/>
                          </a:solidFill>
                        </a:rPr>
                        <a:t>✔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0" name="Google Shape;460;p58"/>
          <p:cNvSpPr txBox="1">
            <a:spLocks noGrp="1"/>
          </p:cNvSpPr>
          <p:nvPr>
            <p:ph type="ftr" idx="11"/>
          </p:nvPr>
        </p:nvSpPr>
        <p:spPr>
          <a:xfrm>
            <a:off x="-513886" y="4911213"/>
            <a:ext cx="3086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https://awscommunity.me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1" name="Google Shape;461;p58"/>
          <p:cNvSpPr/>
          <p:nvPr/>
        </p:nvSpPr>
        <p:spPr>
          <a:xfrm rot="6183837">
            <a:off x="7802636" y="3396880"/>
            <a:ext cx="1854139" cy="2703508"/>
          </a:xfrm>
          <a:custGeom>
            <a:avLst/>
            <a:gdLst/>
            <a:ahLst/>
            <a:cxnLst/>
            <a:rect l="l" t="t" r="r" b="b"/>
            <a:pathLst>
              <a:path w="3991493" h="4835022" extrusionOk="0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8"/>
          <p:cNvSpPr/>
          <p:nvPr/>
        </p:nvSpPr>
        <p:spPr>
          <a:xfrm>
            <a:off x="8767902" y="-154332"/>
            <a:ext cx="581532" cy="540804"/>
          </a:xfrm>
          <a:custGeom>
            <a:avLst/>
            <a:gdLst/>
            <a:ahLst/>
            <a:cxnLst/>
            <a:rect l="l" t="t" r="r" b="b"/>
            <a:pathLst>
              <a:path w="1444799" h="1343613" extrusionOk="0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>
            <a:spLocks noGrp="1"/>
          </p:cNvSpPr>
          <p:nvPr>
            <p:ph type="body" idx="2"/>
          </p:nvPr>
        </p:nvSpPr>
        <p:spPr>
          <a:xfrm>
            <a:off x="276304" y="1447970"/>
            <a:ext cx="85914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solidFill>
                  <a:schemeClr val="lt1"/>
                </a:solidFill>
              </a:rPr>
              <a:t>Continuous engagement with the audience.</a:t>
            </a:r>
            <a:endParaRPr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solidFill>
                  <a:schemeClr val="lt1"/>
                </a:solidFill>
              </a:rPr>
              <a:t>Seating arrangement for two people at the table/booth.</a:t>
            </a:r>
            <a:endParaRPr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solidFill>
                  <a:schemeClr val="lt1"/>
                </a:solidFill>
              </a:rPr>
              <a:t>Place two standees near your setup.</a:t>
            </a:r>
            <a:endParaRPr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solidFill>
                  <a:schemeClr val="lt1"/>
                </a:solidFill>
              </a:rPr>
              <a:t>Hand out complimentary goodies.</a:t>
            </a:r>
            <a:endParaRPr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solidFill>
                  <a:schemeClr val="lt1"/>
                </a:solidFill>
              </a:rPr>
              <a:t>2 Social Media promotional posts on LinkedIn, Facebook &amp; Whatsapp</a:t>
            </a:r>
            <a:endParaRPr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>
                <a:solidFill>
                  <a:schemeClr val="lt1"/>
                </a:solidFill>
              </a:rPr>
              <a:t>Logo placement on main backdrop &amp; footer.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0" name="Google Shape;470;p59"/>
          <p:cNvSpPr txBox="1"/>
          <p:nvPr/>
        </p:nvSpPr>
        <p:spPr>
          <a:xfrm>
            <a:off x="424496" y="648575"/>
            <a:ext cx="6072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800" b="1" i="0" u="none" strike="noStrike" cap="none">
                <a:solidFill>
                  <a:srgbClr val="E78E0D"/>
                </a:solidFill>
                <a:latin typeface="Arial"/>
                <a:ea typeface="Arial"/>
                <a:cs typeface="Arial"/>
                <a:sym typeface="Arial"/>
              </a:rPr>
              <a:t>Booth / Table Sponsor – AED 5000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9"/>
          <p:cNvSpPr txBox="1">
            <a:spLocks noGrp="1"/>
          </p:cNvSpPr>
          <p:nvPr>
            <p:ph type="ftr" idx="11"/>
          </p:nvPr>
        </p:nvSpPr>
        <p:spPr>
          <a:xfrm>
            <a:off x="6012775" y="4869000"/>
            <a:ext cx="30828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https://awscommunity.me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0"/>
          <p:cNvSpPr/>
          <p:nvPr/>
        </p:nvSpPr>
        <p:spPr>
          <a:xfrm rot="5400000">
            <a:off x="7409121" y="2411953"/>
            <a:ext cx="2487517" cy="3626266"/>
          </a:xfrm>
          <a:custGeom>
            <a:avLst/>
            <a:gdLst/>
            <a:ahLst/>
            <a:cxnLst/>
            <a:rect l="l" t="t" r="r" b="b"/>
            <a:pathLst>
              <a:path w="3991493" h="4835022" extrusionOk="0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70"/>
          <p:cNvSpPr txBox="1"/>
          <p:nvPr/>
        </p:nvSpPr>
        <p:spPr>
          <a:xfrm>
            <a:off x="2096456" y="2043100"/>
            <a:ext cx="47433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get in touch</a:t>
            </a:r>
            <a:endParaRPr sz="1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991" name="Google Shape;991;p70"/>
          <p:cNvSpPr/>
          <p:nvPr/>
        </p:nvSpPr>
        <p:spPr>
          <a:xfrm>
            <a:off x="8060401" y="3721231"/>
            <a:ext cx="1083599" cy="1007710"/>
          </a:xfrm>
          <a:custGeom>
            <a:avLst/>
            <a:gdLst/>
            <a:ahLst/>
            <a:cxnLst/>
            <a:rect l="l" t="t" r="r" b="b"/>
            <a:pathLst>
              <a:path w="1444799" h="1343613" extrusionOk="0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70"/>
          <p:cNvGrpSpPr/>
          <p:nvPr/>
        </p:nvGrpSpPr>
        <p:grpSpPr>
          <a:xfrm>
            <a:off x="-3127705" y="-2296799"/>
            <a:ext cx="6438080" cy="6236249"/>
            <a:chOff x="-3350613" y="-3018856"/>
            <a:chExt cx="8584107" cy="8314998"/>
          </a:xfrm>
        </p:grpSpPr>
        <p:sp>
          <p:nvSpPr>
            <p:cNvPr id="993" name="Google Shape;993;p70"/>
            <p:cNvSpPr/>
            <p:nvPr/>
          </p:nvSpPr>
          <p:spPr>
            <a:xfrm rot="2476041">
              <a:off x="-634236" y="-2254131"/>
              <a:ext cx="4024137" cy="7105531"/>
            </a:xfrm>
            <a:custGeom>
              <a:avLst/>
              <a:gdLst/>
              <a:ahLst/>
              <a:cxnLst/>
              <a:rect l="l" t="t" r="r" b="b"/>
              <a:pathLst>
                <a:path w="1137091" h="1501074" extrusionOk="0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70"/>
            <p:cNvSpPr/>
            <p:nvPr/>
          </p:nvSpPr>
          <p:spPr>
            <a:xfrm rot="3140551">
              <a:off x="-1320786" y="-2808187"/>
              <a:ext cx="4024137" cy="7105531"/>
            </a:xfrm>
            <a:custGeom>
              <a:avLst/>
              <a:gdLst/>
              <a:ahLst/>
              <a:cxnLst/>
              <a:rect l="l" t="t" r="r" b="b"/>
              <a:pathLst>
                <a:path w="1137091" h="1501074" extrusionOk="0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70"/>
            <p:cNvSpPr/>
            <p:nvPr/>
          </p:nvSpPr>
          <p:spPr>
            <a:xfrm rot="8901965">
              <a:off x="3130551" y="555042"/>
              <a:ext cx="1370251" cy="1274286"/>
            </a:xfrm>
            <a:custGeom>
              <a:avLst/>
              <a:gdLst/>
              <a:ahLst/>
              <a:cxnLst/>
              <a:rect l="l" t="t" r="r" b="b"/>
              <a:pathLst>
                <a:path w="1444799" h="1343613" extrusionOk="0">
                  <a:moveTo>
                    <a:pt x="1051454" y="206792"/>
                  </a:moveTo>
                  <a:cubicBezTo>
                    <a:pt x="1128607" y="309663"/>
                    <a:pt x="1171469" y="411580"/>
                    <a:pt x="1253384" y="532548"/>
                  </a:cubicBezTo>
                  <a:cubicBezTo>
                    <a:pt x="1336252" y="652563"/>
                    <a:pt x="1457219" y="791628"/>
                    <a:pt x="1443884" y="904023"/>
                  </a:cubicBezTo>
                  <a:cubicBezTo>
                    <a:pt x="1430549" y="1016418"/>
                    <a:pt x="1282912" y="1102143"/>
                    <a:pt x="1145752" y="1165960"/>
                  </a:cubicBezTo>
                  <a:cubicBezTo>
                    <a:pt x="1008591" y="1228825"/>
                    <a:pt x="880956" y="1269783"/>
                    <a:pt x="728556" y="1305025"/>
                  </a:cubicBezTo>
                  <a:cubicBezTo>
                    <a:pt x="575204" y="1340268"/>
                    <a:pt x="397086" y="1370748"/>
                    <a:pt x="267546" y="1305025"/>
                  </a:cubicBezTo>
                  <a:cubicBezTo>
                    <a:pt x="138959" y="1239303"/>
                    <a:pt x="58949" y="1076425"/>
                    <a:pt x="21801" y="912595"/>
                  </a:cubicBezTo>
                  <a:cubicBezTo>
                    <a:pt x="-14394" y="748765"/>
                    <a:pt x="-8679" y="583030"/>
                    <a:pt x="64664" y="463968"/>
                  </a:cubicBezTo>
                  <a:cubicBezTo>
                    <a:pt x="138006" y="345858"/>
                    <a:pt x="278976" y="274420"/>
                    <a:pt x="405659" y="187742"/>
                  </a:cubicBezTo>
                  <a:cubicBezTo>
                    <a:pt x="531389" y="101065"/>
                    <a:pt x="642831" y="100"/>
                    <a:pt x="753321" y="100"/>
                  </a:cubicBezTo>
                  <a:cubicBezTo>
                    <a:pt x="864764" y="1052"/>
                    <a:pt x="974301" y="104875"/>
                    <a:pt x="1051454" y="206792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</TotalTime>
  <Words>1141</Words>
  <Application>Microsoft Macintosh PowerPoint</Application>
  <PresentationFormat>On-screen Show (16:9)</PresentationFormat>
  <Paragraphs>194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Mukta Medium</vt:lpstr>
      <vt:lpstr>Calibri</vt:lpstr>
      <vt:lpstr>Mukta Light</vt:lpstr>
      <vt:lpstr>Arial</vt:lpstr>
      <vt:lpstr>Mukta SemiBold</vt:lpstr>
      <vt:lpstr>Fira Sans Medium</vt:lpstr>
      <vt:lpstr>Simple Light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Glimpse of past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sabiha ashik</cp:lastModifiedBy>
  <cp:revision>4</cp:revision>
  <dcterms:modified xsi:type="dcterms:W3CDTF">2026-07-11T08:57:56Z</dcterms:modified>
</cp:coreProperties>
</file>